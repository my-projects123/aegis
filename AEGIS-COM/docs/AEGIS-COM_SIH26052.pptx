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lost radio commands. Name DRDO. Say laptop POC immediately. Do not say we built a headset.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say existing headsets cannot handle impulse. Contrast MAP vs automatic comms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RECOVERY. Invention is the mechanism. Enhancer is swappable.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DEMO after this slide if time: clean → engine → dynamic → impulse →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only these numbers. SIH printed thresholds are TARGETS. Hardware was not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Indian software on the comms stack, not replacing ComTac. Invite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A46E"/>
                </a:solidFill>
                <a:latin typeface="Calibri"/>
              </a:rPr>
              <a:t>SIH26052  ·  DRDO  ·  HARDWARE THEME  ·  SMART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7FA"/>
                </a:solidFill>
                <a:latin typeface="Calibri"/>
              </a:rPr>
              <a:t>AEGIS-COM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EC6C9"/>
                </a:solidFill>
                <a:latin typeface="Calibri"/>
              </a:rPr>
              <a:t>Event-Aware Adaptive Speech Protection for Defence Communications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766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Radio commands fail when engine, rotor, and impulsive noise hit the same sentence.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LMS / Wiener / spectral subtraction lag or break on bangs.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We are not showing a fake tactical headset. We show a comms-path controller.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Sense the event → switch enhancement policy → recover the next 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554480"/>
            <a:ext cx="4206240" cy="3017520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691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46E"/>
                </a:solidFill>
                <a:latin typeface="Calibri"/>
              </a:rPr>
              <a:t>ONE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148840"/>
            <a:ext cx="3657600" cy="384048"/>
          </a:xfrm>
          <a:prstGeom prst="rect">
            <a:avLst/>
          </a:prstGeom>
          <a:solidFill>
            <a:srgbClr val="3EC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Acoustic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651760"/>
            <a:ext cx="3657600" cy="384048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FSM controller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154680"/>
            <a:ext cx="3657600" cy="38404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Mode-specific 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657600"/>
            <a:ext cx="3657600" cy="384048"/>
          </a:xfrm>
          <a:prstGeom prst="rect">
            <a:avLst/>
          </a:prstGeom>
          <a:solidFill>
            <a:srgbClr val="D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Recover after impulse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Laptop POC = software-in-the-loop digital enhancement.  Physical earcup ANC = future companion, not today’s claim.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6D4"/>
                </a:solidFill>
                <a:latin typeface="Calibri"/>
              </a:rPr>
              <a:t>SIH26052  ·  DRDO  ·  AEGIS-COM  ·  Internal hackathon POC  ·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A"/>
                </a:solidFill>
                <a:latin typeface="Calibri"/>
              </a:rPr>
              <a:t>Existing systems already protect hearing. The gap is elsewhere.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0" cy="4846320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5A46E"/>
                </a:solidFill>
                <a:latin typeface="Calibri"/>
              </a:rPr>
              <a:t>MATURE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7FA"/>
                </a:solidFill>
                <a:latin typeface="Calibri"/>
              </a:rPr>
              <a:t>▸  3M ComTac VI: impulse + steady hearing protection (ANSI S12.42).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7FA"/>
                </a:solidFill>
                <a:latin typeface="Calibri"/>
              </a:rPr>
              <a:t>▸  Mission Audio Profiles: Comfort / Conversation / Patrol / Observation — operator selected.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7FA"/>
                </a:solidFill>
                <a:latin typeface="Calibri"/>
              </a:rPr>
              <a:t>▸  INVISIO RA108 / RA5100: PNR + ANR for continuous vehicle noise; user-toggled hear-through.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7FA"/>
                </a:solidFill>
                <a:latin typeface="Calibri"/>
              </a:rPr>
              <a:t>▸  Generic AI denoisers: one policy for every scene.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486400" cy="4846320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EC6C9"/>
                </a:solidFill>
                <a:latin typeface="Calibri"/>
              </a:rPr>
              <a:t>THE REAL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7FA"/>
                </a:solidFill>
                <a:latin typeface="Calibri"/>
              </a:rPr>
              <a:t>▸  MAP is a menu, not a closed loop on the radio path.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7FA"/>
                </a:solidFill>
                <a:latin typeface="Calibri"/>
              </a:rPr>
              <a:t>▸  ANR is built for rumble, not policy switching after a bang.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7FA"/>
                </a:solidFill>
                <a:latin typeface="Calibri"/>
              </a:rPr>
              <a:t>▸  AI denoisers smear the next syllable when the noise model is poisoned.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7FA"/>
                </a:solidFill>
                <a:latin typeface="Calibri"/>
              </a:rPr>
              <a:t>▸  Missing: automatic, confidence-gated enhancement policy + mandatory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6D4"/>
                </a:solidFill>
                <a:latin typeface="Calibri"/>
              </a:rPr>
              <a:t>SIH26052  ·  DRDO  ·  AEGIS-COM  ·  Internal hackathon POC  ·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A"/>
                </a:solidFill>
                <a:latin typeface="Calibri"/>
              </a:rPr>
              <a:t>Novelty: event-aware policy switching, not ‘AI + DSP’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2148840" cy="438912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AUDIO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868680"/>
            <a:ext cx="2148840" cy="438912"/>
          </a:xfrm>
          <a:prstGeom prst="rect">
            <a:avLst/>
          </a:prstGeom>
          <a:solidFill>
            <a:srgbClr val="3EC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SENSE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868680"/>
            <a:ext cx="2148840" cy="438912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DECIDE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868680"/>
            <a:ext cx="2148840" cy="438912"/>
          </a:xfrm>
          <a:prstGeom prst="rect">
            <a:avLst/>
          </a:prstGeom>
          <a:solidFill>
            <a:srgbClr val="3EC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9738359" y="868680"/>
            <a:ext cx="2148840" cy="438912"/>
          </a:xfrm>
          <a:prstGeom prst="rect">
            <a:avLst/>
          </a:prstGeom>
          <a:solidFill>
            <a:srgbClr val="D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RECOVER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2148840" cy="1051560"/>
          </a:xfrm>
          <a:prstGeom prst="rect">
            <a:avLst/>
          </a:prstGeom>
          <a:solidFill>
            <a:srgbClr val="3EC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C2C"/>
                </a:solidFill>
                <a:latin typeface="Calibri"/>
              </a:rPr>
              <a:t>SPEECH
PRESERVE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508760"/>
            <a:ext cx="2148840" cy="1051560"/>
          </a:xfrm>
          <a:prstGeom prst="rect">
            <a:avLst/>
          </a:prstGeom>
          <a:solidFill>
            <a:srgbClr val="7C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C2C"/>
                </a:solidFill>
                <a:latin typeface="Calibri"/>
              </a:rPr>
              <a:t>STATIONARY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508760"/>
            <a:ext cx="2148840" cy="1051560"/>
          </a:xfrm>
          <a:prstGeom prst="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C2C"/>
                </a:solidFill>
                <a:latin typeface="Calibri"/>
              </a:rPr>
              <a:t>DYNAMIC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508760"/>
            <a:ext cx="2148840" cy="1051560"/>
          </a:xfrm>
          <a:prstGeom prst="rect">
            <a:avLst/>
          </a:prstGeom>
          <a:solidFill>
            <a:srgbClr val="D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C2C"/>
                </a:solidFill>
                <a:latin typeface="Calibri"/>
              </a:rPr>
              <a:t>IMPULSE
PROTECT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38359" y="1508760"/>
            <a:ext cx="2148840" cy="1051560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C2C"/>
                </a:solidFill>
                <a:latin typeface="Calibri"/>
              </a:rPr>
              <a:t>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Every 16 ms we estimate class, severity, speech P, impulse P, confidence — then the FSM chooses a mode.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Impulse has priority and FREEZES the noise estimate. Recovery is mandatory. Low confidence holds the last stable mode.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AI (RNNoise-class on the edge; Wiener in tonight’s POC) is a module inside STATIONARY/DYNAMIC — not the invention.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This is complementary to ComTac MAP / INVISIO ANR, not a claim that those products lack hearing protection.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6D4"/>
                </a:solidFill>
                <a:latin typeface="Calibri"/>
              </a:rPr>
              <a:t>SIH26052  ·  DRDO  ·  AEGIS-COM  ·  Internal hackathon POC  ·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A"/>
                </a:solidFill>
                <a:latin typeface="Calibri"/>
              </a:rPr>
              <a:t>Working POC — real processing on a laptop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960120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89611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7FA"/>
                </a:solidFill>
                <a:latin typeface="Calibri"/>
              </a:rPr>
              <a:t>Detector, FSM, Wiener, waveforms, spectrograms, SNR, SI-SNR, laptop RTF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247120" cy="960120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5A46E"/>
                </a:solidFill>
                <a:latin typeface="Calibri"/>
              </a:rPr>
              <a:t>SIMULATED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4767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7FA"/>
                </a:solidFill>
                <a:latin typeface="Calibri"/>
              </a:rPr>
              <a:t>Formant speech, engine/rotor-like noise, laboratory impulse — not field tapes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79"/>
            <a:ext cx="11247120" cy="960120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Calibri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9923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7FA"/>
                </a:solidFill>
                <a:latin typeface="Calibri"/>
              </a:rPr>
              <a:t>SNR &gt; 15 dB · STOI &gt; 0.85 · PESQ &gt; 2.5  (SIH goals, not claimed)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11247120" cy="960120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5079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7C6D4"/>
                </a:solidFill>
                <a:latin typeface="Calibri"/>
              </a:rPr>
              <a:t>FUTURE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50791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7FA"/>
                </a:solidFill>
                <a:latin typeface="Calibri"/>
              </a:rPr>
              <a:t>Jetson / Pi / DSP, dual-mic ANC, tactical headset, DRDO field audio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6D4"/>
                </a:solidFill>
                <a:latin typeface="Calibri"/>
              </a:rPr>
              <a:t>SIH26052  ·  DRDO  ·  AEGIS-COM  ·  Internal hackathon POC  ·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A"/>
                </a:solidFill>
                <a:latin typeface="Calibri"/>
              </a:rPr>
              <a:t>Laptop measurements on the synthetic demo scene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85800"/>
            <a:ext cx="11247120" cy="475488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Input SNR (dB)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0.22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16152"/>
            <a:ext cx="11247120" cy="475488"/>
          </a:xfrm>
          <a:prstGeom prst="rect">
            <a:avLst/>
          </a:prstGeom>
          <a:solidFill>
            <a:srgbClr val="0F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Output SNR (dB)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2.15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46504"/>
            <a:ext cx="11247120" cy="475488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922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SNR improvement (dB)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7922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1.92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76856"/>
            <a:ext cx="11247120" cy="475488"/>
          </a:xfrm>
          <a:prstGeom prst="rect">
            <a:avLst/>
          </a:prstGeom>
          <a:solidFill>
            <a:srgbClr val="0F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225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SI-SNR in / out (dB)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3225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5.42  →  8.09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07208"/>
            <a:ext cx="11247120" cy="475488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52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Impulse peak reduction (dB)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8529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11.08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11247120" cy="475488"/>
          </a:xfrm>
          <a:prstGeom prst="rect">
            <a:avLst/>
          </a:prstGeom>
          <a:solidFill>
            <a:srgbClr val="0F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Detect latency / recovery (ms)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0.00  /  416.00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67911"/>
            <a:ext cx="11247120" cy="475488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136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Laptop RTF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91363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0.01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98264"/>
            <a:ext cx="11247120" cy="475488"/>
          </a:xfrm>
          <a:prstGeom prst="rect">
            <a:avLst/>
          </a:prstGeom>
          <a:solidFill>
            <a:srgbClr val="0F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439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STOI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4439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0.785 (MEASURED)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28616"/>
            <a:ext cx="11247120" cy="475488"/>
          </a:xfrm>
          <a:prstGeom prst="rect">
            <a:avLst/>
          </a:prstGeom>
          <a:solidFill>
            <a:srgbClr val="12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743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6D4"/>
                </a:solidFill>
                <a:latin typeface="Calibri"/>
              </a:rPr>
              <a:t>PESQ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9743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6C9"/>
                </a:solidFill>
                <a:latin typeface="Calibri"/>
              </a:rPr>
              <a:t>UNAVAILABLE — TARGET 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6D4"/>
                </a:solidFill>
                <a:latin typeface="Calibri"/>
              </a:rPr>
              <a:t>SIH26052  ·  DRDO  ·  AEGIS-COM  ·  Internal hackathon POC  ·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A"/>
                </a:solidFill>
                <a:latin typeface="Calibri"/>
              </a:rPr>
              <a:t>Path to hardware, impact, frozen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Deploy path: laptop SIL → USB audio → Raspberry Pi / Jetson → boom-mic + certified earcup ANR.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Latency budget (ESTIMATE): 16 ms hop + model + I/O &lt; 60 ms. Laptop RTF is the measured number today.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Impact: fewer lost commands when the scene jumps; software updates without replacing every headset.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F7FA"/>
                </a:solidFill>
                <a:latin typeface="Calibri"/>
              </a:rPr>
              <a:t>▸  Novelty recap: automatic event-aware speech-protection policy with impulse freeze and recovery.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206240"/>
            <a:ext cx="2651760" cy="502920"/>
          </a:xfrm>
          <a:prstGeom prst="rect">
            <a:avLst/>
          </a:prstGeom>
          <a:solidFill>
            <a:srgbClr val="C5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POC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4206240"/>
            <a:ext cx="2651760" cy="502920"/>
          </a:xfrm>
          <a:prstGeom prst="rect">
            <a:avLst/>
          </a:prstGeom>
          <a:solidFill>
            <a:srgbClr val="3EC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Edge 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06240"/>
            <a:ext cx="2651760" cy="502920"/>
          </a:xfrm>
          <a:prstGeom prst="rect">
            <a:avLst/>
          </a:prstGeom>
          <a:solidFill>
            <a:srgbClr val="3EC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Headset I/O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4206240"/>
            <a:ext cx="2651760" cy="502920"/>
          </a:xfrm>
          <a:prstGeom prst="rect">
            <a:avLst/>
          </a:prstGeom>
          <a:solidFill>
            <a:srgbClr val="3EC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C2C"/>
                </a:solidFill>
                <a:latin typeface="Calibri"/>
              </a:rPr>
              <a:t>Field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7FA"/>
                </a:solidFill>
                <a:latin typeface="Calibri"/>
              </a:rPr>
              <a:t>We are not asking DRDO to believe a dashboard. We are asking them to believe a controller that changes its mind for a reason — and we showed that reason on audio.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6D4"/>
                </a:solidFill>
                <a:latin typeface="Calibri"/>
              </a:rPr>
              <a:t>SIH26052  ·  DRDO  ·  AEGIS-COM  ·  Internal hackathon POC  ·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